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49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al__ma_Sayfas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al__ma_Sayfas_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al__ma_Sayfas_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al__ma_Sayfas_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1B4B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E1B4B"/>
                </a:solidFill>
                <a:latin typeface="Arial"/>
              </a:rPr>
              <a:t>Room type mix (% of listings)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124-447D-A7CE-AA99A552B841}"/>
              </c:ext>
            </c:extLst>
          </c:dPt>
          <c:dPt>
            <c:idx val="1"/>
            <c:bubble3D val="0"/>
            <c:spPr>
              <a:solidFill>
                <a:srgbClr val="EC48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124-447D-A7CE-AA99A552B841}"/>
              </c:ext>
            </c:extLst>
          </c:dPt>
          <c:dPt>
            <c:idx val="2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124-447D-A7CE-AA99A552B841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124-447D-A7CE-AA99A552B841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124-447D-A7CE-AA99A552B841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124-447D-A7CE-AA99A552B84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Entire home/apt</c:v>
                </c:pt>
                <c:pt idx="1">
                  <c:v>Private room</c:v>
                </c:pt>
                <c:pt idx="2">
                  <c:v>Shared room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52</c:v>
                </c:pt>
                <c:pt idx="1">
                  <c:v>45.7</c:v>
                </c:pt>
                <c:pt idx="2">
                  <c:v>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124-447D-A7CE-AA99A552B8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1B4B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E1B4B"/>
                </a:solidFill>
                <a:latin typeface="Arial"/>
              </a:rPr>
              <a:t>Listings by borough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Listings %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70C-405D-A412-16E140561266}"/>
              </c:ext>
            </c:extLst>
          </c:dPt>
          <c:dPt>
            <c:idx val="1"/>
            <c:invertIfNegative val="0"/>
            <c:bubble3D val="0"/>
            <c:spPr>
              <a:solidFill>
                <a:srgbClr val="EC48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70C-405D-A412-16E140561266}"/>
              </c:ext>
            </c:extLst>
          </c:dPt>
          <c:dPt>
            <c:idx val="2"/>
            <c:invertIfNegative val="0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70C-405D-A412-16E140561266}"/>
              </c:ext>
            </c:extLst>
          </c:dPt>
          <c:dPt>
            <c:idx val="3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70C-405D-A412-16E140561266}"/>
              </c:ext>
            </c:extLst>
          </c:dPt>
          <c:dPt>
            <c:idx val="4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70C-405D-A412-16E140561266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Manhattan</c:v>
                </c:pt>
                <c:pt idx="1">
                  <c:v>Brooklyn</c:v>
                </c:pt>
                <c:pt idx="2">
                  <c:v>Queens</c:v>
                </c:pt>
                <c:pt idx="3">
                  <c:v>Bronx</c:v>
                </c:pt>
                <c:pt idx="4">
                  <c:v>Staten Is.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44.3</c:v>
                </c:pt>
                <c:pt idx="1">
                  <c:v>41.1</c:v>
                </c:pt>
                <c:pt idx="2">
                  <c:v>11.6</c:v>
                </c:pt>
                <c:pt idx="3">
                  <c:v>2.2000000000000002</c:v>
                </c:pt>
                <c:pt idx="4">
                  <c:v>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70C-405D-A412-16E14056126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1B4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1B4B"/>
                </a:solidFill>
                <a:latin typeface="Arial"/>
              </a:rPr>
              <a:t>Median reviews per month by minimum stay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rpm</c:v>
                </c:pt>
              </c:strCache>
            </c:strRef>
          </c:tx>
          <c:spPr>
            <a:solidFill>
              <a:srgbClr val="EC489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F48-4FF4-8246-CBC9FA9CB276}"/>
              </c:ext>
            </c:extLst>
          </c:dPt>
          <c:dPt>
            <c:idx val="1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F48-4FF4-8246-CBC9FA9CB276}"/>
              </c:ext>
            </c:extLst>
          </c:dPt>
          <c:dPt>
            <c:idx val="2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F48-4FF4-8246-CBC9FA9CB276}"/>
              </c:ext>
            </c:extLst>
          </c:dPt>
          <c:dPt>
            <c:idx val="3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F48-4FF4-8246-CBC9FA9CB276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1-3 nights</c:v>
                </c:pt>
                <c:pt idx="1">
                  <c:v>4-7</c:v>
                </c:pt>
                <c:pt idx="2">
                  <c:v>8-30</c:v>
                </c:pt>
                <c:pt idx="3">
                  <c:v>31+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0.4</c:v>
                </c:pt>
                <c:pt idx="2">
                  <c:v>0.26</c:v>
                </c:pt>
                <c:pt idx="3">
                  <c:v>0.23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F48-4FF4-8246-CBC9FA9CB27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1B4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1B4B"/>
                </a:solidFill>
                <a:latin typeface="Arial"/>
              </a:rPr>
              <a:t>Median reviews per month by borough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rpm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FDB-485B-8F05-8160AE3A0AB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FFDB-485B-8F05-8160AE3A0AB3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FFDB-485B-8F05-8160AE3A0AB3}"/>
              </c:ext>
            </c:extLst>
          </c:dPt>
          <c:dPt>
            <c:idx val="3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FDB-485B-8F05-8160AE3A0AB3}"/>
              </c:ext>
            </c:extLst>
          </c:dPt>
          <c:dPt>
            <c:idx val="4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FDB-485B-8F05-8160AE3A0AB3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Staten Island</c:v>
                </c:pt>
                <c:pt idx="1">
                  <c:v>Bronx</c:v>
                </c:pt>
                <c:pt idx="2">
                  <c:v>Queens</c:v>
                </c:pt>
                <c:pt idx="3">
                  <c:v>Brooklyn</c:v>
                </c:pt>
                <c:pt idx="4">
                  <c:v>Manhattan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1.41</c:v>
                </c:pt>
                <c:pt idx="1">
                  <c:v>1.38</c:v>
                </c:pt>
                <c:pt idx="2">
                  <c:v>1.21</c:v>
                </c:pt>
                <c:pt idx="3">
                  <c:v>0.66</c:v>
                </c:pt>
                <c:pt idx="4">
                  <c:v>0.61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FDB-485B-8F05-8160AE3A0AB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1098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097280"/>
            <a:ext cx="411480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" y="1097280"/>
            <a:ext cx="411480" cy="109728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0" y="1097280"/>
            <a:ext cx="411480" cy="10972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Shape 3"/>
          <p:cNvSpPr/>
          <p:nvPr/>
        </p:nvSpPr>
        <p:spPr>
          <a:xfrm>
            <a:off x="2148840" y="1097280"/>
            <a:ext cx="411480" cy="109728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6" name="Shape 4"/>
          <p:cNvSpPr/>
          <p:nvPr/>
        </p:nvSpPr>
        <p:spPr>
          <a:xfrm>
            <a:off x="2651760" y="1097280"/>
            <a:ext cx="411480" cy="10972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46304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Airbnb Market Analysis (2019)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51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Supply, pricing and demand across New York City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Data Analysis Project  |  Python (Kaggle notebook) + Power BI dashboard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problem, and what data did we use?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7178040" y="320040"/>
            <a:ext cx="1508760" cy="365760"/>
          </a:xfrm>
          <a:prstGeom prst="roundRect">
            <a:avLst>
              <a:gd name="adj" fmla="val 25000"/>
            </a:avLst>
          </a:prstGeom>
          <a:solidFill>
            <a:srgbClr val="EC489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+ Data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087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the NYC Airbnb market structured, what drives listing prices, and where is demand strongest?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31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 answer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65176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listing types and areas are most active?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prices differ, and what affects them?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price, reviews and stay length relate?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areas perform best, and what patterns appear?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577840" y="1188720"/>
            <a:ext cx="310896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77840" y="1298448"/>
            <a:ext cx="64008" cy="67665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806440" y="12801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48,895 x 16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806440" y="16916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data: AB_NYC_2019 (only dataset used)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77840" y="2212848"/>
            <a:ext cx="310896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77840" y="2322576"/>
            <a:ext cx="64008" cy="676656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806440" y="230428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48,870 x 22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806440" y="27157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 and feature engineering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77840" y="3236976"/>
            <a:ext cx="310896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77840" y="3346704"/>
            <a:ext cx="64008" cy="67665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806440" y="3328416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rating column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806440" y="373989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are used as a booking-activity proxy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34340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EDE9FE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4343400"/>
            <a:ext cx="73152" cy="5943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5800" y="43434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Airbnb New York City 2019 open data. Reviews measure booking activity, not guest satisfaction.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was the data cleaned? Only 0.05% of rows removed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7178040" y="320040"/>
            <a:ext cx="1508760" cy="365760"/>
          </a:xfrm>
          <a:prstGeom prst="roundRect">
            <a:avLst>
              <a:gd name="adj" fmla="val 25000"/>
            </a:avLst>
          </a:prstGeom>
          <a:solidFill>
            <a:srgbClr val="EC489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was it cleaned?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432304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reviews_per_month missing (10,052)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Filled with 0 (all had 0 reviews)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Logically correct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/ host_name missing (16 / 21)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Filled "Unknown", columns dropped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analysis 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last_review stored as 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Converted to datetime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analysis possible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= 0 (11), min. nights &gt; 365 (14)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 removed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rows (0.05%)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&gt; $500 (2.1% of listings)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Flagged, not removed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Luxury listings kept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Checked rows and 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found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34340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EDE9FE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4343400"/>
            <a:ext cx="73152" cy="5943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85800" y="43434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added: is_inactive, has_reviews, host_type, stay_type, price_category, log_price (price skew 19.1 to 0.63).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boroughs and two room types make up the market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7178040" y="320040"/>
            <a:ext cx="1508760" cy="365760"/>
          </a:xfrm>
          <a:prstGeom prst="roundRect">
            <a:avLst>
              <a:gd name="adj" fmla="val 25000"/>
            </a:avLst>
          </a:prstGeom>
          <a:solidFill>
            <a:srgbClr val="EC489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discover?</a:t>
            </a:r>
            <a:endParaRPr lang="en-US" sz="9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097280"/>
          <a:ext cx="384048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480560" y="1097280"/>
          <a:ext cx="42062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434340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EDE9FE"/>
          </a:solidFill>
          <a:ln/>
        </p:spPr>
      </p:sp>
      <p:sp>
        <p:nvSpPr>
          <p:cNvPr id="7" name="Shape 3"/>
          <p:cNvSpPr/>
          <p:nvPr/>
        </p:nvSpPr>
        <p:spPr>
          <a:xfrm>
            <a:off x="457200" y="4343400"/>
            <a:ext cx="73152" cy="5943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85800" y="43434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 + Brooklyn = 85.4% of listings. Entire homes + private rooms = 98%. Largest area: Williamsburg (3,917).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drives price: Manhattan is most expensive in every room type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7178040" y="320040"/>
            <a:ext cx="1508760" cy="365760"/>
          </a:xfrm>
          <a:prstGeom prst="roundRect">
            <a:avLst>
              <a:gd name="adj" fmla="val 25000"/>
            </a:avLst>
          </a:prstGeom>
          <a:solidFill>
            <a:srgbClr val="EC489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discover?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120640" cy="27432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7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7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83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price (USD)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Entire home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room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room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Bronx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C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C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Brooklyn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48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C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Manhattan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48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C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Staten Island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C1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C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02336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scale: yellow &lt; $60  |  orange &lt; $110  |  pink &lt; $150  |  violet $150+</a:t>
            </a:r>
            <a:endParaRPr lang="en-US" sz="900" dirty="0"/>
          </a:p>
        </p:txBody>
      </p:sp>
      <p:sp>
        <p:nvSpPr>
          <p:cNvPr id="4" name="Text 3"/>
          <p:cNvSpPr txBox="1"/>
          <p:nvPr/>
        </p:nvSpPr>
        <p:spPr>
          <a:xfrm>
            <a:off x="5852160" y="11887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852160" y="1554480"/>
            <a:ext cx="2834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home: $191 in Manhattan vs $100 in the Bronx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premium holds inside each room type, so it is a real location effect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has weak correlation with reviews or availability (|r| ≤ 0.11)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434340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EDE9FE"/>
          </a:solidFill>
          <a:ln/>
        </p:spPr>
      </p:sp>
      <p:sp>
        <p:nvSpPr>
          <p:cNvPr id="9" name="Shape 6"/>
          <p:cNvSpPr/>
          <p:nvPr/>
        </p:nvSpPr>
        <p:spPr>
          <a:xfrm>
            <a:off x="457200" y="4343400"/>
            <a:ext cx="73152" cy="5943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85800" y="43434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price (listings up to $500): Manhattan $145, Brooklyn $90, Queens and Staten Island $75, Bronx $65.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is higher outside the core and for shorter stays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7178040" y="320040"/>
            <a:ext cx="1508760" cy="365760"/>
          </a:xfrm>
          <a:prstGeom prst="roundRect">
            <a:avLst>
              <a:gd name="adj" fmla="val 25000"/>
            </a:avLst>
          </a:prstGeom>
          <a:solidFill>
            <a:srgbClr val="EC489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discover?</a:t>
            </a:r>
            <a:endParaRPr lang="en-US" sz="9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097280"/>
          <a:ext cx="402336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663440" y="1097280"/>
          <a:ext cx="402336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434340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EDE9FE"/>
          </a:solidFill>
          <a:ln/>
        </p:spPr>
      </p:sp>
      <p:sp>
        <p:nvSpPr>
          <p:cNvPr id="7" name="Shape 3"/>
          <p:cNvSpPr/>
          <p:nvPr/>
        </p:nvSpPr>
        <p:spPr>
          <a:xfrm>
            <a:off x="457200" y="4343400"/>
            <a:ext cx="73152" cy="5943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85800" y="43434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of minimum nights with monthly reviews: -0.25. Listings above $500: only 60% reviewed (82% at $76-150).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 BI dashboard lets anyone explore these findings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7178040" y="320040"/>
            <a:ext cx="1508760" cy="365760"/>
          </a:xfrm>
          <a:prstGeom prst="roundRect">
            <a:avLst>
              <a:gd name="adj" fmla="val 25000"/>
            </a:avLst>
          </a:prstGeom>
          <a:solidFill>
            <a:srgbClr val="EC489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pic>
        <p:nvPicPr>
          <p:cNvPr id="4" name="Image 0" descr="/mnt/user-data/uploads/1791826443837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4023360" cy="226771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35661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Overview: 5 KPIs, map, room-type mix, boroughs, top 15 neighbourhoods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4663440" y="36118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 Demand: 4 KPIs, price quartiles, heatmap, bubble chart, trend, slide-out filters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457200" y="434340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EDE9FE"/>
          </a:solidFill>
          <a:ln/>
        </p:spPr>
      </p:sp>
      <p:sp>
        <p:nvSpPr>
          <p:cNvPr id="9" name="Shape 5"/>
          <p:cNvSpPr/>
          <p:nvPr/>
        </p:nvSpPr>
        <p:spPr>
          <a:xfrm>
            <a:off x="457200" y="4343400"/>
            <a:ext cx="73152" cy="5943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85800" y="43434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pages (Overview, Pricing &amp; Demand, Key Insight)  |  4 filters: borough, room type, price category, host type  |  every chart cross-filters.</a:t>
            </a:r>
            <a:endParaRPr lang="en-US" sz="1200" dirty="0"/>
          </a:p>
        </p:txBody>
      </p:sp>
      <p:pic>
        <p:nvPicPr>
          <p:cNvPr id="12" name="Resim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226" y="1143000"/>
            <a:ext cx="4059788" cy="22677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insights and the decisions they support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7178040" y="320040"/>
            <a:ext cx="1508760" cy="365760"/>
          </a:xfrm>
          <a:prstGeom prst="roundRect">
            <a:avLst>
              <a:gd name="adj" fmla="val 25000"/>
            </a:avLst>
          </a:prstGeom>
          <a:solidFill>
            <a:srgbClr val="EC489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+ Decisions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2880360"/>
        </p:xfrm>
        <a:graphic>
          <a:graphicData uri="http://schemas.openxmlformats.org/drawingml/2006/table">
            <a:tbl>
              <a:tblPr/>
              <a:tblGrid>
                <a:gridCol w="4663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Insight (what we found)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 (decision)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boroughs hold 85% of supply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 by borough x room 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drives price ($191 vs $100 entire home)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from the benchmark, not the citywide average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Outer boroughs: 1.2-1.4 reviews/month vs 0.6 in the core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Explore Queens first for new listings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Above $500, only 60% of listings are reviewed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standard listings at $76-150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1-3 night minimum: 1.00 reviews/month vs 0.23-0.40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shorter minimum stays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35.9% of listings are blocked; 6+ listing hosts stay open 283-319 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the market with active listings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34340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EDE9FE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4343400"/>
            <a:ext cx="73152" cy="5943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85800" y="43434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insight is backed by the notebook analysis and visible in the dashboard.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benchmark by location and type, and look beyond the core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7178040" y="320040"/>
            <a:ext cx="1508760" cy="365760"/>
          </a:xfrm>
          <a:prstGeom prst="roundRect">
            <a:avLst>
              <a:gd name="adj" fmla="val 25000"/>
            </a:avLst>
          </a:prstGeom>
          <a:solidFill>
            <a:srgbClr val="EC489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is concentrated, and price is set mainly by where a listing is and what type it is. Booking activity is higher outside Manhattan and Brooklyn and for cheaper, shorter-stay listings, and a third of listed supply is not bookable.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8348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983480" y="169164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rating column: reviews are only a proxy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snapshot (July 2019): no seasonality or growth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Bronx and Staten Island: small samples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Associations, not proven causes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434340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EDE9FE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4343400"/>
            <a:ext cx="73152" cy="5943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43434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 clean dataset, Kaggle notebook, Power BI dashboard, final report, insights and recommendations.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881</Words>
  <Application>Microsoft Office PowerPoint</Application>
  <PresentationFormat>Ekran Gösterisi (16:9)</PresentationFormat>
  <Paragraphs>126</Paragraphs>
  <Slides>9</Slides>
  <Notes>9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mk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NYC Airbnb Market Analysis (2019)</dc:title>
  <dc:subject>PptxGenJS Presentation</dc:subject>
  <dc:creator>mk</dc:creator>
  <cp:lastModifiedBy>Merve k</cp:lastModifiedBy>
  <cp:revision>2</cp:revision>
  <dcterms:created xsi:type="dcterms:W3CDTF">2026-10-12T18:17:01Z</dcterms:created>
  <dcterms:modified xsi:type="dcterms:W3CDTF">2026-10-12T18:24:21Z</dcterms:modified>
</cp:coreProperties>
</file>